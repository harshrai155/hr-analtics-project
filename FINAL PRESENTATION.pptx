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69" r:id="rId3"/>
    <p:sldId id="270" r:id="rId4"/>
    <p:sldId id="268" r:id="rId5"/>
    <p:sldId id="281" r:id="rId6"/>
    <p:sldId id="273" r:id="rId7"/>
    <p:sldId id="274" r:id="rId8"/>
    <p:sldId id="275" r:id="rId9"/>
    <p:sldId id="276" r:id="rId10"/>
    <p:sldId id="277" r:id="rId11"/>
    <p:sldId id="278" r:id="rId12"/>
    <p:sldId id="259" r:id="rId13"/>
    <p:sldId id="260" r:id="rId14"/>
    <p:sldId id="261" r:id="rId15"/>
    <p:sldId id="262" r:id="rId16"/>
    <p:sldId id="263" r:id="rId17"/>
    <p:sldId id="264" r:id="rId18"/>
    <p:sldId id="266" r:id="rId19"/>
    <p:sldId id="267" r:id="rId20"/>
    <p:sldId id="280"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D88882-696D-45A6-BDEE-01BCE128306C}" v="57" dt="2026-02-14T18:17:20.8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061" autoAdjust="0"/>
  </p:normalViewPr>
  <p:slideViewPr>
    <p:cSldViewPr snapToGrid="0">
      <p:cViewPr varScale="1">
        <p:scale>
          <a:sx n="66" d="100"/>
          <a:sy n="66" d="100"/>
        </p:scale>
        <p:origin x="66"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953F23-2506-4925-9FBB-D02046BF9BCE}"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9FB1D5-668C-46AF-97D5-25395FC69330}"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9507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53F23-2506-4925-9FBB-D02046BF9BCE}"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9FB1D5-668C-46AF-97D5-25395FC69330}" type="slidenum">
              <a:rPr lang="en-IN" smtClean="0"/>
              <a:t>‹#›</a:t>
            </a:fld>
            <a:endParaRPr lang="en-IN"/>
          </a:p>
        </p:txBody>
      </p:sp>
    </p:spTree>
    <p:extLst>
      <p:ext uri="{BB962C8B-B14F-4D97-AF65-F5344CB8AC3E}">
        <p14:creationId xmlns:p14="http://schemas.microsoft.com/office/powerpoint/2010/main" val="966508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53F23-2506-4925-9FBB-D02046BF9BCE}"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9FB1D5-668C-46AF-97D5-25395FC69330}"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2121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953F23-2506-4925-9FBB-D02046BF9BCE}" type="datetimeFigureOut">
              <a:rPr lang="en-IN" smtClean="0"/>
              <a:t>14-02-2026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9FB1D5-668C-46AF-97D5-25395FC69330}" type="slidenum">
              <a:rPr lang="en-IN" smtClean="0"/>
              <a:t>‹#›</a:t>
            </a:fld>
            <a:endParaRPr lang="en-IN"/>
          </a:p>
        </p:txBody>
      </p:sp>
    </p:spTree>
    <p:extLst>
      <p:ext uri="{BB962C8B-B14F-4D97-AF65-F5344CB8AC3E}">
        <p14:creationId xmlns:p14="http://schemas.microsoft.com/office/powerpoint/2010/main" val="2839718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953F23-2506-4925-9FBB-D02046BF9BCE}" type="datetimeFigureOut">
              <a:rPr lang="en-IN" smtClean="0"/>
              <a:t>14-02-2026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C9FB1D5-668C-46AF-97D5-25395FC69330}" type="slidenum">
              <a:rPr lang="en-IN" smtClean="0"/>
              <a:t>‹#›</a:t>
            </a:fld>
            <a:endParaRPr lang="en-IN"/>
          </a:p>
        </p:txBody>
      </p:sp>
    </p:spTree>
    <p:extLst>
      <p:ext uri="{BB962C8B-B14F-4D97-AF65-F5344CB8AC3E}">
        <p14:creationId xmlns:p14="http://schemas.microsoft.com/office/powerpoint/2010/main" val="2935092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953F23-2506-4925-9FBB-D02046BF9BCE}" type="datetimeFigureOut">
              <a:rPr lang="en-IN" smtClean="0"/>
              <a:t>14-02-2026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C9FB1D5-668C-46AF-97D5-25395FC69330}" type="slidenum">
              <a:rPr lang="en-IN" smtClean="0"/>
              <a:t>‹#›</a:t>
            </a:fld>
            <a:endParaRPr lang="en-IN"/>
          </a:p>
        </p:txBody>
      </p:sp>
    </p:spTree>
    <p:extLst>
      <p:ext uri="{BB962C8B-B14F-4D97-AF65-F5344CB8AC3E}">
        <p14:creationId xmlns:p14="http://schemas.microsoft.com/office/powerpoint/2010/main" val="2445232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6953F23-2506-4925-9FBB-D02046BF9BCE}" type="datetimeFigureOut">
              <a:rPr lang="en-IN" smtClean="0"/>
              <a:t>14-02-2026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8C9FB1D5-668C-46AF-97D5-25395FC69330}" type="slidenum">
              <a:rPr lang="en-IN" smtClean="0"/>
              <a:t>‹#›</a:t>
            </a:fld>
            <a:endParaRPr lang="en-IN"/>
          </a:p>
        </p:txBody>
      </p:sp>
    </p:spTree>
    <p:extLst>
      <p:ext uri="{BB962C8B-B14F-4D97-AF65-F5344CB8AC3E}">
        <p14:creationId xmlns:p14="http://schemas.microsoft.com/office/powerpoint/2010/main" val="4188050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6953F23-2506-4925-9FBB-D02046BF9BCE}" type="datetimeFigureOut">
              <a:rPr lang="en-IN" smtClean="0"/>
              <a:t>14-02-2026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C9FB1D5-668C-46AF-97D5-25395FC69330}" type="slidenum">
              <a:rPr lang="en-IN" smtClean="0"/>
              <a:t>‹#›</a:t>
            </a:fld>
            <a:endParaRPr lang="en-IN"/>
          </a:p>
        </p:txBody>
      </p:sp>
    </p:spTree>
    <p:extLst>
      <p:ext uri="{BB962C8B-B14F-4D97-AF65-F5344CB8AC3E}">
        <p14:creationId xmlns:p14="http://schemas.microsoft.com/office/powerpoint/2010/main" val="2818508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953F23-2506-4925-9FBB-D02046BF9BCE}" type="datetimeFigureOut">
              <a:rPr lang="en-IN" smtClean="0"/>
              <a:t>14-02-2026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9FB1D5-668C-46AF-97D5-25395FC69330}" type="slidenum">
              <a:rPr lang="en-IN" smtClean="0"/>
              <a:t>‹#›</a:t>
            </a:fld>
            <a:endParaRPr lang="en-IN"/>
          </a:p>
        </p:txBody>
      </p:sp>
    </p:spTree>
    <p:extLst>
      <p:ext uri="{BB962C8B-B14F-4D97-AF65-F5344CB8AC3E}">
        <p14:creationId xmlns:p14="http://schemas.microsoft.com/office/powerpoint/2010/main" val="21762515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53F23-2506-4925-9FBB-D02046BF9BCE}"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9FB1D5-668C-46AF-97D5-25395FC69330}" type="slidenum">
              <a:rPr lang="en-IN" smtClean="0"/>
              <a:t>‹#›</a:t>
            </a:fld>
            <a:endParaRPr lang="en-IN"/>
          </a:p>
        </p:txBody>
      </p:sp>
    </p:spTree>
    <p:extLst>
      <p:ext uri="{BB962C8B-B14F-4D97-AF65-F5344CB8AC3E}">
        <p14:creationId xmlns:p14="http://schemas.microsoft.com/office/powerpoint/2010/main" val="4144815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53F23-2506-4925-9FBB-D02046BF9BCE}"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9FB1D5-668C-46AF-97D5-25395FC69330}" type="slidenum">
              <a:rPr lang="en-IN" smtClean="0"/>
              <a:t>‹#›</a:t>
            </a:fld>
            <a:endParaRPr lang="en-IN"/>
          </a:p>
        </p:txBody>
      </p:sp>
    </p:spTree>
    <p:extLst>
      <p:ext uri="{BB962C8B-B14F-4D97-AF65-F5344CB8AC3E}">
        <p14:creationId xmlns:p14="http://schemas.microsoft.com/office/powerpoint/2010/main" val="3514921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6953F23-2506-4925-9FBB-D02046BF9BCE}" type="datetimeFigureOut">
              <a:rPr lang="en-IN" smtClean="0"/>
              <a:t>14-02-2026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C9FB1D5-668C-46AF-97D5-25395FC69330}"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7112700"/>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946F1-9647-C324-E2F2-FC259A8E9AFC}"/>
              </a:ext>
            </a:extLst>
          </p:cNvPr>
          <p:cNvSpPr>
            <a:spLocks noGrp="1"/>
          </p:cNvSpPr>
          <p:nvPr>
            <p:ph type="ctrTitle"/>
          </p:nvPr>
        </p:nvSpPr>
        <p:spPr/>
        <p:txBody>
          <a:bodyPr/>
          <a:lstStyle/>
          <a:p>
            <a:r>
              <a:rPr lang="en-US" b="1" dirty="0"/>
              <a:t>HR ANALYTICS FINAL PRESENTATION</a:t>
            </a:r>
            <a:endParaRPr lang="en-IN" b="1" dirty="0"/>
          </a:p>
        </p:txBody>
      </p:sp>
      <p:sp>
        <p:nvSpPr>
          <p:cNvPr id="3" name="Subtitle 2">
            <a:extLst>
              <a:ext uri="{FF2B5EF4-FFF2-40B4-BE49-F238E27FC236}">
                <a16:creationId xmlns:a16="http://schemas.microsoft.com/office/drawing/2014/main" id="{0E4D17AF-A914-2EB0-4FB4-9A51935B4E51}"/>
              </a:ext>
            </a:extLst>
          </p:cNvPr>
          <p:cNvSpPr>
            <a:spLocks noGrp="1"/>
          </p:cNvSpPr>
          <p:nvPr>
            <p:ph type="subTitle" idx="1"/>
          </p:nvPr>
        </p:nvSpPr>
        <p:spPr/>
        <p:txBody>
          <a:bodyPr/>
          <a:lstStyle/>
          <a:p>
            <a:r>
              <a:rPr lang="en-US" dirty="0"/>
              <a:t>PRESENTED BY :GROUP-3</a:t>
            </a:r>
          </a:p>
          <a:p>
            <a:r>
              <a:rPr lang="en-US" dirty="0"/>
              <a:t>TOOLS:EXCEL|TABLEAU|SQL|POWERBI</a:t>
            </a:r>
            <a:endParaRPr lang="en-IN" dirty="0"/>
          </a:p>
        </p:txBody>
      </p:sp>
    </p:spTree>
    <p:extLst>
      <p:ext uri="{BB962C8B-B14F-4D97-AF65-F5344CB8AC3E}">
        <p14:creationId xmlns:p14="http://schemas.microsoft.com/office/powerpoint/2010/main" val="3295367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18E86-8500-84A3-4CA8-BD21DA2C2969}"/>
              </a:ext>
            </a:extLst>
          </p:cNvPr>
          <p:cNvSpPr>
            <a:spLocks noGrp="1"/>
          </p:cNvSpPr>
          <p:nvPr>
            <p:ph type="title"/>
          </p:nvPr>
        </p:nvSpPr>
        <p:spPr/>
        <p:txBody>
          <a:bodyPr/>
          <a:lstStyle/>
          <a:p>
            <a:pPr algn="ctr"/>
            <a:r>
              <a:rPr lang="en-US" b="1" u="sng" dirty="0"/>
              <a:t>INTRODUCTION</a:t>
            </a:r>
            <a:endParaRPr lang="en-IN" b="1" u="sng" dirty="0"/>
          </a:p>
        </p:txBody>
      </p:sp>
      <p:sp>
        <p:nvSpPr>
          <p:cNvPr id="3" name="Content Placeholder 2">
            <a:extLst>
              <a:ext uri="{FF2B5EF4-FFF2-40B4-BE49-F238E27FC236}">
                <a16:creationId xmlns:a16="http://schemas.microsoft.com/office/drawing/2014/main" id="{F205466A-9E8C-46F1-D8F2-881828CDD803}"/>
              </a:ext>
            </a:extLst>
          </p:cNvPr>
          <p:cNvSpPr>
            <a:spLocks noGrp="1"/>
          </p:cNvSpPr>
          <p:nvPr>
            <p:ph idx="1"/>
          </p:nvPr>
        </p:nvSpPr>
        <p:spPr/>
        <p:txBody>
          <a:bodyPr/>
          <a:lstStyle/>
          <a:p>
            <a:r>
              <a:rPr lang="en-US" dirty="0"/>
              <a:t>EMPLOYEE ATTRITION IS A MAJOR CONCERN FOR ORGANIZATIONS AS IT AFFECTS PRODUCTIVITY, COST, AND WORKFORCE STABILITY.</a:t>
            </a:r>
          </a:p>
          <a:p>
            <a:r>
              <a:rPr lang="en-US" dirty="0"/>
              <a:t>THROUGH THIS PROJECT, I ANALYZED HR DATA TO UNDERSTAND THE KEY FACTORS INFLUENCING EMPLOYEE ATTRITION, SUCH AS INCOME, EXPERIENCE, PROMOTION GAPS, AND WORK-LIFE BALANCE.</a:t>
            </a:r>
          </a:p>
          <a:p>
            <a:r>
              <a:rPr lang="en-US" dirty="0"/>
              <a:t>THE ANALYSIS WAS CARRIED OUT USING EXCEL, SQL, TABLEAU, AND POWER BI TO CONVERT RAW HR DATA INTO MEANINGFUL INSIGHTS.</a:t>
            </a:r>
            <a:endParaRPr lang="en-IN" dirty="0"/>
          </a:p>
        </p:txBody>
      </p:sp>
    </p:spTree>
    <p:extLst>
      <p:ext uri="{BB962C8B-B14F-4D97-AF65-F5344CB8AC3E}">
        <p14:creationId xmlns:p14="http://schemas.microsoft.com/office/powerpoint/2010/main" val="2316342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34B4E-D8F0-6E9F-BC88-E2043110A166}"/>
              </a:ext>
            </a:extLst>
          </p:cNvPr>
          <p:cNvSpPr>
            <a:spLocks noGrp="1"/>
          </p:cNvSpPr>
          <p:nvPr>
            <p:ph type="title"/>
          </p:nvPr>
        </p:nvSpPr>
        <p:spPr/>
        <p:txBody>
          <a:bodyPr/>
          <a:lstStyle/>
          <a:p>
            <a:pPr algn="ctr"/>
            <a:r>
              <a:rPr lang="en-US" b="1" u="sng" dirty="0"/>
              <a:t>PROJECT SUMMARY AND IMPACT</a:t>
            </a:r>
            <a:endParaRPr lang="en-IN" b="1" u="sng" dirty="0"/>
          </a:p>
        </p:txBody>
      </p:sp>
      <p:sp>
        <p:nvSpPr>
          <p:cNvPr id="3" name="Content Placeholder 2">
            <a:extLst>
              <a:ext uri="{FF2B5EF4-FFF2-40B4-BE49-F238E27FC236}">
                <a16:creationId xmlns:a16="http://schemas.microsoft.com/office/drawing/2014/main" id="{E106E5A0-806F-C5E1-054E-5D75B0FCD020}"/>
              </a:ext>
            </a:extLst>
          </p:cNvPr>
          <p:cNvSpPr>
            <a:spLocks noGrp="1"/>
          </p:cNvSpPr>
          <p:nvPr>
            <p:ph idx="1"/>
          </p:nvPr>
        </p:nvSpPr>
        <p:spPr/>
        <p:txBody>
          <a:bodyPr>
            <a:normAutofit/>
          </a:bodyPr>
          <a:lstStyle/>
          <a:p>
            <a:r>
              <a:rPr lang="en-US" dirty="0"/>
              <a:t>THIS PROJECT FOCUSES ON ANALYZING EMPLOYEE ATTRITION AND WORKFORCE TRENDS</a:t>
            </a:r>
          </a:p>
          <a:p>
            <a:r>
              <a:rPr lang="en-US" dirty="0"/>
              <a:t>USES HR DATA TO IDENTIFY KEY FACTORS INFLUENCING ATTRITION</a:t>
            </a:r>
          </a:p>
          <a:p>
            <a:r>
              <a:rPr lang="en-US" dirty="0"/>
              <a:t>TOOLS USED:SQL,EXCEL,TABLEAU,AND POWERBI</a:t>
            </a:r>
          </a:p>
          <a:p>
            <a:pPr marL="0" indent="0">
              <a:buNone/>
            </a:pPr>
            <a:r>
              <a:rPr lang="en-IN" sz="4400" b="1" u="sng" dirty="0"/>
              <a:t>IMPACT</a:t>
            </a:r>
          </a:p>
          <a:p>
            <a:r>
              <a:rPr lang="en-US" dirty="0"/>
              <a:t>HELPS HR TEAMS REDUCE ATTRITION</a:t>
            </a:r>
          </a:p>
          <a:p>
            <a:r>
              <a:rPr lang="en-US" dirty="0"/>
              <a:t>IMPROVES EMPLOYEE RETENTION STRATEGIES</a:t>
            </a:r>
          </a:p>
          <a:p>
            <a:r>
              <a:rPr lang="en-US" dirty="0"/>
              <a:t>ENABLE DATA-DRIVEN WORKFORCE PLANNING</a:t>
            </a:r>
            <a:endParaRPr lang="en-IN" dirty="0"/>
          </a:p>
          <a:p>
            <a:pPr marL="0" indent="0">
              <a:buNone/>
            </a:pPr>
            <a:endParaRPr lang="en-IN" b="1" dirty="0"/>
          </a:p>
          <a:p>
            <a:pPr marL="0" indent="0">
              <a:buNone/>
            </a:pPr>
            <a:endParaRPr lang="en-IN" sz="4400" b="1" dirty="0"/>
          </a:p>
          <a:p>
            <a:endParaRPr lang="en-US" dirty="0"/>
          </a:p>
          <a:p>
            <a:endParaRPr lang="en-IN" dirty="0"/>
          </a:p>
        </p:txBody>
      </p:sp>
    </p:spTree>
    <p:extLst>
      <p:ext uri="{BB962C8B-B14F-4D97-AF65-F5344CB8AC3E}">
        <p14:creationId xmlns:p14="http://schemas.microsoft.com/office/powerpoint/2010/main" val="1679204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B0E62-C178-1341-AE55-D4C7C88BC7D8}"/>
              </a:ext>
            </a:extLst>
          </p:cNvPr>
          <p:cNvSpPr>
            <a:spLocks noGrp="1"/>
          </p:cNvSpPr>
          <p:nvPr>
            <p:ph type="title"/>
          </p:nvPr>
        </p:nvSpPr>
        <p:spPr/>
        <p:txBody>
          <a:bodyPr/>
          <a:lstStyle/>
          <a:p>
            <a:pPr algn="ctr"/>
            <a:r>
              <a:rPr lang="en-US" b="1" u="sng" dirty="0"/>
              <a:t>OBJECTIVES</a:t>
            </a:r>
            <a:endParaRPr lang="en-IN" b="1" u="sng" dirty="0"/>
          </a:p>
        </p:txBody>
      </p:sp>
      <p:sp>
        <p:nvSpPr>
          <p:cNvPr id="3" name="Content Placeholder 2">
            <a:extLst>
              <a:ext uri="{FF2B5EF4-FFF2-40B4-BE49-F238E27FC236}">
                <a16:creationId xmlns:a16="http://schemas.microsoft.com/office/drawing/2014/main" id="{411F484C-11E6-DD51-8E68-AD9DB4F6ED77}"/>
              </a:ext>
            </a:extLst>
          </p:cNvPr>
          <p:cNvSpPr>
            <a:spLocks noGrp="1"/>
          </p:cNvSpPr>
          <p:nvPr>
            <p:ph idx="1"/>
          </p:nvPr>
        </p:nvSpPr>
        <p:spPr/>
        <p:txBody>
          <a:bodyPr/>
          <a:lstStyle/>
          <a:p>
            <a:r>
              <a:rPr lang="en-US"/>
              <a:t>TO ANALYZE EMPLOYEE ATTRITION ACROSS DIFFERENT DEPARTMENTS</a:t>
            </a:r>
          </a:p>
          <a:p>
            <a:r>
              <a:rPr lang="en-US"/>
              <a:t>TO STUDY THE IMPACT OF INCOME, PROMOTION, AND EXPERIENCE ON ATTRITION</a:t>
            </a:r>
          </a:p>
          <a:p>
            <a:r>
              <a:rPr lang="en-US"/>
              <a:t>TO UNDERSTAND WORK-LIFE BALANCE ACROSS JOB ROLES</a:t>
            </a:r>
          </a:p>
          <a:p>
            <a:r>
              <a:rPr lang="en-US"/>
              <a:t>TO PRESENT INSIGHTS USING MULTIPLE ANALYTICAL TOOLS</a:t>
            </a:r>
          </a:p>
          <a:p>
            <a:r>
              <a:rPr lang="en-US"/>
              <a:t>SUPPORT HR-DECISION-MAKING USING DATA</a:t>
            </a:r>
            <a:endParaRPr lang="en-IN" dirty="0"/>
          </a:p>
        </p:txBody>
      </p:sp>
    </p:spTree>
    <p:extLst>
      <p:ext uri="{BB962C8B-B14F-4D97-AF65-F5344CB8AC3E}">
        <p14:creationId xmlns:p14="http://schemas.microsoft.com/office/powerpoint/2010/main" val="3949337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D118B-0ADD-23D7-0C64-10B789C1D90C}"/>
              </a:ext>
            </a:extLst>
          </p:cNvPr>
          <p:cNvSpPr>
            <a:spLocks noGrp="1"/>
          </p:cNvSpPr>
          <p:nvPr>
            <p:ph type="title"/>
          </p:nvPr>
        </p:nvSpPr>
        <p:spPr/>
        <p:txBody>
          <a:bodyPr>
            <a:normAutofit/>
          </a:bodyPr>
          <a:lstStyle/>
          <a:p>
            <a:pPr algn="ctr"/>
            <a:r>
              <a:rPr lang="en-US" b="1" u="sng" dirty="0"/>
              <a:t>KEY PERFORMANCES OF INDICATORS(KPIs</a:t>
            </a:r>
            <a:r>
              <a:rPr lang="en-US" dirty="0"/>
              <a:t>)</a:t>
            </a:r>
            <a:endParaRPr lang="en-IN" dirty="0"/>
          </a:p>
        </p:txBody>
      </p:sp>
      <p:sp>
        <p:nvSpPr>
          <p:cNvPr id="3" name="Content Placeholder 2">
            <a:extLst>
              <a:ext uri="{FF2B5EF4-FFF2-40B4-BE49-F238E27FC236}">
                <a16:creationId xmlns:a16="http://schemas.microsoft.com/office/drawing/2014/main" id="{DE9D97CF-1C33-A015-B9F9-72771E82C112}"/>
              </a:ext>
            </a:extLst>
          </p:cNvPr>
          <p:cNvSpPr>
            <a:spLocks noGrp="1"/>
          </p:cNvSpPr>
          <p:nvPr>
            <p:ph idx="1"/>
          </p:nvPr>
        </p:nvSpPr>
        <p:spPr>
          <a:xfrm>
            <a:off x="838200" y="1840139"/>
            <a:ext cx="10515600" cy="4351338"/>
          </a:xfrm>
        </p:spPr>
        <p:txBody>
          <a:bodyPr>
            <a:normAutofit/>
          </a:bodyPr>
          <a:lstStyle/>
          <a:p>
            <a:pPr marL="0" indent="0" algn="ctr">
              <a:buNone/>
            </a:pPr>
            <a:r>
              <a:rPr lang="en-US" sz="3600" u="sng" dirty="0"/>
              <a:t>KPIs USED</a:t>
            </a:r>
            <a:r>
              <a:rPr lang="en-US" sz="3600" dirty="0"/>
              <a:t>:</a:t>
            </a:r>
          </a:p>
          <a:p>
            <a:r>
              <a:rPr lang="en-US" dirty="0"/>
              <a:t>AVERAGE ATTRITION RATE FOR ALL DEPARTMENT</a:t>
            </a:r>
          </a:p>
          <a:p>
            <a:r>
              <a:rPr lang="en-US" dirty="0"/>
              <a:t>AVERAGE HPURLY RATE OF MALE REASEARCH SCIENTIST</a:t>
            </a:r>
          </a:p>
          <a:p>
            <a:r>
              <a:rPr lang="en-US" dirty="0"/>
              <a:t>ATTRITION RATE vs MONTHLY INCOME </a:t>
            </a:r>
          </a:p>
          <a:p>
            <a:r>
              <a:rPr lang="en-US" dirty="0"/>
              <a:t>AVERAGE WORKING YEARS FOR EACH DEPARTMENT</a:t>
            </a:r>
          </a:p>
          <a:p>
            <a:r>
              <a:rPr lang="en-US" dirty="0"/>
              <a:t>JOB ROLE vs WORK LIFE BALANCE</a:t>
            </a:r>
          </a:p>
          <a:p>
            <a:r>
              <a:rPr lang="en-US" dirty="0"/>
              <a:t>ATTRITION RATE vs YEAR SINCE LAST PROMOTION </a:t>
            </a:r>
            <a:endParaRPr lang="en-IN" dirty="0"/>
          </a:p>
        </p:txBody>
      </p:sp>
    </p:spTree>
    <p:extLst>
      <p:ext uri="{BB962C8B-B14F-4D97-AF65-F5344CB8AC3E}">
        <p14:creationId xmlns:p14="http://schemas.microsoft.com/office/powerpoint/2010/main" val="2392364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77483-702E-9CA9-E914-5C47FE9920BE}"/>
              </a:ext>
            </a:extLst>
          </p:cNvPr>
          <p:cNvSpPr>
            <a:spLocks noGrp="1"/>
          </p:cNvSpPr>
          <p:nvPr>
            <p:ph type="title"/>
          </p:nvPr>
        </p:nvSpPr>
        <p:spPr/>
        <p:txBody>
          <a:bodyPr>
            <a:normAutofit/>
          </a:bodyPr>
          <a:lstStyle/>
          <a:p>
            <a:pPr algn="ctr"/>
            <a:r>
              <a:rPr lang="en-US" b="1" u="sng" dirty="0"/>
              <a:t>AVERAGE ATTRITION RATE FOR ALL DEPARTMENTS</a:t>
            </a:r>
            <a:endParaRPr lang="en-IN" b="1" u="sng" dirty="0"/>
          </a:p>
        </p:txBody>
      </p:sp>
      <p:sp>
        <p:nvSpPr>
          <p:cNvPr id="3" name="Content Placeholder 2">
            <a:extLst>
              <a:ext uri="{FF2B5EF4-FFF2-40B4-BE49-F238E27FC236}">
                <a16:creationId xmlns:a16="http://schemas.microsoft.com/office/drawing/2014/main" id="{75E88D04-47F1-E832-9E35-A69CA6F0893E}"/>
              </a:ext>
            </a:extLst>
          </p:cNvPr>
          <p:cNvSpPr>
            <a:spLocks noGrp="1"/>
          </p:cNvSpPr>
          <p:nvPr>
            <p:ph idx="1"/>
          </p:nvPr>
        </p:nvSpPr>
        <p:spPr/>
        <p:txBody>
          <a:bodyPr/>
          <a:lstStyle/>
          <a:p>
            <a:r>
              <a:rPr lang="en-US" dirty="0"/>
              <a:t>OBSERVATION: ATTRITION VARIES ACROSS DEPARTMENTS</a:t>
            </a:r>
          </a:p>
          <a:p>
            <a:r>
              <a:rPr lang="en-US" dirty="0"/>
              <a:t>SUGGESTION: FOCUS ON HIGH-ATTRITION DEPARTMENTS</a:t>
            </a:r>
          </a:p>
          <a:p>
            <a:r>
              <a:rPr lang="en-US" dirty="0"/>
              <a:t>CONCLUSION: BETTER RETENTION IMPROVES STABILITY</a:t>
            </a:r>
            <a:endParaRPr lang="en-IN" dirty="0"/>
          </a:p>
        </p:txBody>
      </p:sp>
    </p:spTree>
    <p:extLst>
      <p:ext uri="{BB962C8B-B14F-4D97-AF65-F5344CB8AC3E}">
        <p14:creationId xmlns:p14="http://schemas.microsoft.com/office/powerpoint/2010/main" val="3215160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43F7E-5FD4-9887-D2DF-F935819C46B0}"/>
              </a:ext>
            </a:extLst>
          </p:cNvPr>
          <p:cNvSpPr>
            <a:spLocks noGrp="1"/>
          </p:cNvSpPr>
          <p:nvPr>
            <p:ph type="title"/>
          </p:nvPr>
        </p:nvSpPr>
        <p:spPr/>
        <p:txBody>
          <a:bodyPr>
            <a:normAutofit/>
          </a:bodyPr>
          <a:lstStyle/>
          <a:p>
            <a:pPr algn="ctr"/>
            <a:r>
              <a:rPr lang="en-US" b="1" u="sng" dirty="0"/>
              <a:t>AVERAGE HOURLY RATE OF MALE RESEARCH SCIENTIST</a:t>
            </a:r>
            <a:endParaRPr lang="en-IN" b="1" u="sng" dirty="0"/>
          </a:p>
        </p:txBody>
      </p:sp>
      <p:sp>
        <p:nvSpPr>
          <p:cNvPr id="3" name="Content Placeholder 2">
            <a:extLst>
              <a:ext uri="{FF2B5EF4-FFF2-40B4-BE49-F238E27FC236}">
                <a16:creationId xmlns:a16="http://schemas.microsoft.com/office/drawing/2014/main" id="{094E1CB0-3303-C8BB-2743-FB2F7EC26D88}"/>
              </a:ext>
            </a:extLst>
          </p:cNvPr>
          <p:cNvSpPr>
            <a:spLocks noGrp="1"/>
          </p:cNvSpPr>
          <p:nvPr>
            <p:ph idx="1"/>
          </p:nvPr>
        </p:nvSpPr>
        <p:spPr/>
        <p:txBody>
          <a:bodyPr/>
          <a:lstStyle/>
          <a:p>
            <a:r>
              <a:rPr lang="en-US" dirty="0"/>
              <a:t>OBSERVATION: PAY FOLLOWS A STANDARD RANGE</a:t>
            </a:r>
          </a:p>
          <a:p>
            <a:r>
              <a:rPr lang="en-US" dirty="0"/>
              <a:t>SUGGESTION: REVIEW PAY REGULARLY</a:t>
            </a:r>
          </a:p>
          <a:p>
            <a:r>
              <a:rPr lang="en-US" dirty="0"/>
              <a:t>CONCLUSION: FAIR PAY HELPS RETAIN TALENT</a:t>
            </a:r>
            <a:endParaRPr lang="en-IN" dirty="0"/>
          </a:p>
        </p:txBody>
      </p:sp>
    </p:spTree>
    <p:extLst>
      <p:ext uri="{BB962C8B-B14F-4D97-AF65-F5344CB8AC3E}">
        <p14:creationId xmlns:p14="http://schemas.microsoft.com/office/powerpoint/2010/main" val="3634511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D260B-D55D-BD6B-7A67-301D191AA9A6}"/>
              </a:ext>
            </a:extLst>
          </p:cNvPr>
          <p:cNvSpPr>
            <a:spLocks noGrp="1"/>
          </p:cNvSpPr>
          <p:nvPr>
            <p:ph type="title"/>
          </p:nvPr>
        </p:nvSpPr>
        <p:spPr/>
        <p:txBody>
          <a:bodyPr/>
          <a:lstStyle/>
          <a:p>
            <a:pPr algn="ctr"/>
            <a:r>
              <a:rPr lang="en-US" b="1" u="sng" dirty="0"/>
              <a:t>ATTRITION RATE vs MONTHLY INCOME</a:t>
            </a:r>
            <a:endParaRPr lang="en-IN" b="1" u="sng" dirty="0"/>
          </a:p>
        </p:txBody>
      </p:sp>
      <p:sp>
        <p:nvSpPr>
          <p:cNvPr id="3" name="Content Placeholder 2">
            <a:extLst>
              <a:ext uri="{FF2B5EF4-FFF2-40B4-BE49-F238E27FC236}">
                <a16:creationId xmlns:a16="http://schemas.microsoft.com/office/drawing/2014/main" id="{20398E45-CD67-E77A-D9E0-D0F62F5A4E00}"/>
              </a:ext>
            </a:extLst>
          </p:cNvPr>
          <p:cNvSpPr>
            <a:spLocks noGrp="1"/>
          </p:cNvSpPr>
          <p:nvPr>
            <p:ph idx="1"/>
          </p:nvPr>
        </p:nvSpPr>
        <p:spPr/>
        <p:txBody>
          <a:bodyPr/>
          <a:lstStyle/>
          <a:p>
            <a:r>
              <a:rPr lang="en-US" dirty="0"/>
              <a:t>OBSERVATION: LOW INCOME – HIGH ATTRITION</a:t>
            </a:r>
          </a:p>
          <a:p>
            <a:r>
              <a:rPr lang="en-US" dirty="0"/>
              <a:t>SUGGESTION: IMPROVES SALARY AND INCENTIVES</a:t>
            </a:r>
          </a:p>
          <a:p>
            <a:r>
              <a:rPr lang="en-US" dirty="0"/>
              <a:t>CONCLUSION: BETTER PAY REDUCES ATTRITION</a:t>
            </a:r>
            <a:endParaRPr lang="en-IN" dirty="0"/>
          </a:p>
        </p:txBody>
      </p:sp>
    </p:spTree>
    <p:extLst>
      <p:ext uri="{BB962C8B-B14F-4D97-AF65-F5344CB8AC3E}">
        <p14:creationId xmlns:p14="http://schemas.microsoft.com/office/powerpoint/2010/main" val="877600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C39E6-20F6-B1ED-C683-9F565FD338AB}"/>
              </a:ext>
            </a:extLst>
          </p:cNvPr>
          <p:cNvSpPr>
            <a:spLocks noGrp="1"/>
          </p:cNvSpPr>
          <p:nvPr>
            <p:ph type="title"/>
          </p:nvPr>
        </p:nvSpPr>
        <p:spPr/>
        <p:txBody>
          <a:bodyPr>
            <a:normAutofit/>
          </a:bodyPr>
          <a:lstStyle/>
          <a:p>
            <a:pPr algn="ctr"/>
            <a:r>
              <a:rPr lang="en-US" b="1" u="sng" dirty="0"/>
              <a:t>AVERAGE WORKING YEARS FOR EACH DEPARTMENT</a:t>
            </a:r>
            <a:endParaRPr lang="en-IN" b="1" u="sng" dirty="0"/>
          </a:p>
        </p:txBody>
      </p:sp>
      <p:sp>
        <p:nvSpPr>
          <p:cNvPr id="3" name="Content Placeholder 2">
            <a:extLst>
              <a:ext uri="{FF2B5EF4-FFF2-40B4-BE49-F238E27FC236}">
                <a16:creationId xmlns:a16="http://schemas.microsoft.com/office/drawing/2014/main" id="{CC50E4AE-CB3B-A569-6091-642DE9C472BD}"/>
              </a:ext>
            </a:extLst>
          </p:cNvPr>
          <p:cNvSpPr>
            <a:spLocks noGrp="1"/>
          </p:cNvSpPr>
          <p:nvPr>
            <p:ph idx="1"/>
          </p:nvPr>
        </p:nvSpPr>
        <p:spPr/>
        <p:txBody>
          <a:bodyPr/>
          <a:lstStyle/>
          <a:p>
            <a:r>
              <a:rPr lang="en-US" dirty="0"/>
              <a:t>OBSERVATION: TENURE DIFFERS BY DEPARTMENT</a:t>
            </a:r>
          </a:p>
          <a:p>
            <a:r>
              <a:rPr lang="en-US" dirty="0"/>
              <a:t>SUGGESTION: APPLY BEST PRACTICES ACROSS TEAMS</a:t>
            </a:r>
          </a:p>
          <a:p>
            <a:r>
              <a:rPr lang="en-US" dirty="0"/>
              <a:t>CONCLUSION: HIGHER TENURE IMPROVES PRODUCTIVITY</a:t>
            </a:r>
            <a:endParaRPr lang="en-IN" dirty="0"/>
          </a:p>
        </p:txBody>
      </p:sp>
    </p:spTree>
    <p:extLst>
      <p:ext uri="{BB962C8B-B14F-4D97-AF65-F5344CB8AC3E}">
        <p14:creationId xmlns:p14="http://schemas.microsoft.com/office/powerpoint/2010/main" val="1226879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17BE9-9F01-F503-6816-AEB8EBD1D8C6}"/>
              </a:ext>
            </a:extLst>
          </p:cNvPr>
          <p:cNvSpPr>
            <a:spLocks noGrp="1"/>
          </p:cNvSpPr>
          <p:nvPr>
            <p:ph type="title"/>
          </p:nvPr>
        </p:nvSpPr>
        <p:spPr/>
        <p:txBody>
          <a:bodyPr/>
          <a:lstStyle/>
          <a:p>
            <a:pPr algn="ctr"/>
            <a:r>
              <a:rPr lang="en-US" b="1" u="sng" dirty="0"/>
              <a:t>JOB ROLE vs WORK LIFE BALANCE</a:t>
            </a:r>
            <a:endParaRPr lang="en-IN" b="1" u="sng" dirty="0"/>
          </a:p>
        </p:txBody>
      </p:sp>
      <p:sp>
        <p:nvSpPr>
          <p:cNvPr id="3" name="Content Placeholder 2">
            <a:extLst>
              <a:ext uri="{FF2B5EF4-FFF2-40B4-BE49-F238E27FC236}">
                <a16:creationId xmlns:a16="http://schemas.microsoft.com/office/drawing/2014/main" id="{C7823419-DF09-65D7-88E5-A825543209A9}"/>
              </a:ext>
            </a:extLst>
          </p:cNvPr>
          <p:cNvSpPr>
            <a:spLocks noGrp="1"/>
          </p:cNvSpPr>
          <p:nvPr>
            <p:ph idx="1"/>
          </p:nvPr>
        </p:nvSpPr>
        <p:spPr/>
        <p:txBody>
          <a:bodyPr/>
          <a:lstStyle/>
          <a:p>
            <a:r>
              <a:rPr lang="en-US" dirty="0"/>
              <a:t>OBSERVATION: WORK-LIFE BALANCE VARIES BY ROLE</a:t>
            </a:r>
          </a:p>
          <a:p>
            <a:r>
              <a:rPr lang="en-US" dirty="0"/>
              <a:t>SUGGESTION: IMPROVES FLEXIBILITY FOR STRESSED ROLES </a:t>
            </a:r>
          </a:p>
          <a:p>
            <a:r>
              <a:rPr lang="en-US" dirty="0"/>
              <a:t>CONCLUSION: GOOD BALANCE INCREASES SATISFACTION</a:t>
            </a:r>
            <a:endParaRPr lang="en-IN" dirty="0"/>
          </a:p>
        </p:txBody>
      </p:sp>
    </p:spTree>
    <p:extLst>
      <p:ext uri="{BB962C8B-B14F-4D97-AF65-F5344CB8AC3E}">
        <p14:creationId xmlns:p14="http://schemas.microsoft.com/office/powerpoint/2010/main" val="4117547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DC35A-19E6-BAC5-BD1C-E4524C944FD0}"/>
              </a:ext>
            </a:extLst>
          </p:cNvPr>
          <p:cNvSpPr>
            <a:spLocks noGrp="1"/>
          </p:cNvSpPr>
          <p:nvPr>
            <p:ph type="title"/>
          </p:nvPr>
        </p:nvSpPr>
        <p:spPr/>
        <p:txBody>
          <a:bodyPr>
            <a:normAutofit/>
          </a:bodyPr>
          <a:lstStyle/>
          <a:p>
            <a:pPr algn="ctr"/>
            <a:r>
              <a:rPr lang="en-US" b="1" u="sng" dirty="0"/>
              <a:t>ATTRITION RATE vs YEARS SINCE LAST PROMOTION</a:t>
            </a:r>
            <a:endParaRPr lang="en-IN" b="1" u="sng" dirty="0"/>
          </a:p>
        </p:txBody>
      </p:sp>
      <p:sp>
        <p:nvSpPr>
          <p:cNvPr id="3" name="Content Placeholder 2">
            <a:extLst>
              <a:ext uri="{FF2B5EF4-FFF2-40B4-BE49-F238E27FC236}">
                <a16:creationId xmlns:a16="http://schemas.microsoft.com/office/drawing/2014/main" id="{A264D25C-C53B-EAD3-4122-E2C7E123A11B}"/>
              </a:ext>
            </a:extLst>
          </p:cNvPr>
          <p:cNvSpPr>
            <a:spLocks noGrp="1"/>
          </p:cNvSpPr>
          <p:nvPr>
            <p:ph idx="1"/>
          </p:nvPr>
        </p:nvSpPr>
        <p:spPr/>
        <p:txBody>
          <a:bodyPr/>
          <a:lstStyle/>
          <a:p>
            <a:r>
              <a:rPr lang="en-US" dirty="0"/>
              <a:t>OBSERVATION: NO PROMOTION – HIGHER ATTRITION</a:t>
            </a:r>
          </a:p>
          <a:p>
            <a:r>
              <a:rPr lang="en-US" dirty="0"/>
              <a:t>SUGGESTION: PROVIDE TIMELY PROMOTIONS</a:t>
            </a:r>
          </a:p>
          <a:p>
            <a:r>
              <a:rPr lang="en-US" dirty="0"/>
              <a:t>CONCLUSION: CAREER GROWTH IMPROVES RETENTION</a:t>
            </a:r>
            <a:endParaRPr lang="en-IN" dirty="0"/>
          </a:p>
        </p:txBody>
      </p:sp>
    </p:spTree>
    <p:extLst>
      <p:ext uri="{BB962C8B-B14F-4D97-AF65-F5344CB8AC3E}">
        <p14:creationId xmlns:p14="http://schemas.microsoft.com/office/powerpoint/2010/main" val="2351730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872FD-4F1E-0731-4781-3248A11A09AA}"/>
              </a:ext>
            </a:extLst>
          </p:cNvPr>
          <p:cNvSpPr>
            <a:spLocks noGrp="1"/>
          </p:cNvSpPr>
          <p:nvPr>
            <p:ph type="title"/>
          </p:nvPr>
        </p:nvSpPr>
        <p:spPr/>
        <p:txBody>
          <a:bodyPr/>
          <a:lstStyle/>
          <a:p>
            <a:pPr algn="ctr"/>
            <a:r>
              <a:rPr lang="en-US" b="1" dirty="0"/>
              <a:t>DATA &amp; WORKFLOW</a:t>
            </a:r>
            <a:endParaRPr lang="en-IN" b="1" dirty="0"/>
          </a:p>
        </p:txBody>
      </p:sp>
      <p:sp>
        <p:nvSpPr>
          <p:cNvPr id="3" name="Content Placeholder 2">
            <a:extLst>
              <a:ext uri="{FF2B5EF4-FFF2-40B4-BE49-F238E27FC236}">
                <a16:creationId xmlns:a16="http://schemas.microsoft.com/office/drawing/2014/main" id="{DBF26F27-DF50-0372-810E-7FCC544E7E85}"/>
              </a:ext>
            </a:extLst>
          </p:cNvPr>
          <p:cNvSpPr>
            <a:spLocks noGrp="1"/>
          </p:cNvSpPr>
          <p:nvPr>
            <p:ph idx="1"/>
          </p:nvPr>
        </p:nvSpPr>
        <p:spPr/>
        <p:txBody>
          <a:bodyPr/>
          <a:lstStyle/>
          <a:p>
            <a:pPr marL="0" indent="0" algn="ctr">
              <a:buNone/>
            </a:pPr>
            <a:r>
              <a:rPr lang="en-IN" u="sng" dirty="0">
                <a:effectLst>
                  <a:outerShdw blurRad="38100" dist="38100" dir="2700000" algn="tl">
                    <a:srgbClr val="000000">
                      <a:alpha val="43137"/>
                    </a:srgbClr>
                  </a:outerShdw>
                </a:effectLst>
              </a:rPr>
              <a:t>Workflow: Excel → SQL → Tableau → Power BI</a:t>
            </a:r>
          </a:p>
          <a:p>
            <a:pPr marL="0" indent="0">
              <a:buNone/>
            </a:pPr>
            <a:endParaRPr lang="en-IN" dirty="0"/>
          </a:p>
          <a:p>
            <a:r>
              <a:rPr lang="en-US" dirty="0"/>
              <a:t>DATA CLEANING &amp; KPI PLANNING IN EXCEL</a:t>
            </a:r>
          </a:p>
          <a:p>
            <a:r>
              <a:rPr lang="en-US" dirty="0"/>
              <a:t>KPI CALCULATION &amp; VALIDATION USING SQL</a:t>
            </a:r>
          </a:p>
          <a:p>
            <a:r>
              <a:rPr lang="en-IN" dirty="0"/>
              <a:t>VISUAL ANALYSIS USING TABLEAU</a:t>
            </a:r>
          </a:p>
          <a:p>
            <a:r>
              <a:rPr lang="en-US" dirty="0"/>
              <a:t>INTERACTIVE DASHBOARD &amp; FINAL INSIGHTS IN POWER BI</a:t>
            </a:r>
            <a:endParaRPr lang="en-IN" dirty="0"/>
          </a:p>
        </p:txBody>
      </p:sp>
    </p:spTree>
    <p:extLst>
      <p:ext uri="{BB962C8B-B14F-4D97-AF65-F5344CB8AC3E}">
        <p14:creationId xmlns:p14="http://schemas.microsoft.com/office/powerpoint/2010/main" val="35774248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46C30-1889-C7C0-97D6-CBFEF9D5C47E}"/>
              </a:ext>
            </a:extLst>
          </p:cNvPr>
          <p:cNvSpPr>
            <a:spLocks noGrp="1"/>
          </p:cNvSpPr>
          <p:nvPr>
            <p:ph type="title"/>
          </p:nvPr>
        </p:nvSpPr>
        <p:spPr/>
        <p:txBody>
          <a:bodyPr/>
          <a:lstStyle/>
          <a:p>
            <a:pPr algn="ctr"/>
            <a:r>
              <a:rPr lang="en-US" b="1" u="sng" dirty="0"/>
              <a:t>EXCEL DASHBOARD</a:t>
            </a:r>
            <a:endParaRPr lang="en-IN" b="1" u="sng" dirty="0"/>
          </a:p>
        </p:txBody>
      </p:sp>
      <p:sp>
        <p:nvSpPr>
          <p:cNvPr id="3" name="Content Placeholder 2">
            <a:extLst>
              <a:ext uri="{FF2B5EF4-FFF2-40B4-BE49-F238E27FC236}">
                <a16:creationId xmlns:a16="http://schemas.microsoft.com/office/drawing/2014/main" id="{C314904B-BD01-AB54-B335-37D858C653EE}"/>
              </a:ext>
            </a:extLst>
          </p:cNvPr>
          <p:cNvSpPr>
            <a:spLocks noGrp="1"/>
          </p:cNvSpPr>
          <p:nvPr>
            <p:ph idx="1"/>
          </p:nvPr>
        </p:nvSpPr>
        <p:spPr/>
        <p:txBody>
          <a:bodyPr>
            <a:normAutofit fontScale="85000" lnSpcReduction="10000"/>
          </a:bodyPr>
          <a:lstStyle/>
          <a:p>
            <a:r>
              <a:rPr lang="en-US" dirty="0"/>
              <a:t>This Excel HR Analytics Dashboard provides a complete overview of the company’s workforce, performance, and attrition patterns.</a:t>
            </a:r>
          </a:p>
          <a:p>
            <a:r>
              <a:rPr lang="en-US" dirty="0"/>
              <a:t>It brings together key HR metrics such as active employees, attrition rate, income levels, and working experience into one single view, so that management can quickly understand the health of the organization.</a:t>
            </a:r>
          </a:p>
          <a:p>
            <a:r>
              <a:rPr lang="en-US" dirty="0"/>
              <a:t>From this dashboard, we can clearly see how salary, promotions, work-life balance, and department structure impact employee retention. Employees with lower income and fewer promotions show higher attrition, which means compensation and career growth are major factors influencing employee decisions.</a:t>
            </a:r>
          </a:p>
          <a:p>
            <a:r>
              <a:rPr lang="en-US" dirty="0"/>
              <a:t>The dashboard also highlights differences across job roles and departments, helping HR identify which teams are more stable and which teams need better support. In addition, the work-life balance and business travel analysis shows how workload and travel requirements can affect employee satisfaction.</a:t>
            </a:r>
          </a:p>
          <a:p>
            <a:r>
              <a:rPr lang="en-US" dirty="0"/>
              <a:t>Overall, this dashboard converts raw HR data into clear business insights. It helps HR leaders take data-driven decisions to improve employee engagement, reduce attrition, and build a more productive workforce.”</a:t>
            </a:r>
            <a:endParaRPr lang="en-IN" dirty="0"/>
          </a:p>
        </p:txBody>
      </p:sp>
    </p:spTree>
    <p:extLst>
      <p:ext uri="{BB962C8B-B14F-4D97-AF65-F5344CB8AC3E}">
        <p14:creationId xmlns:p14="http://schemas.microsoft.com/office/powerpoint/2010/main" val="2434677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864B4-83F0-B860-3A84-69961046E1A9}"/>
              </a:ext>
            </a:extLst>
          </p:cNvPr>
          <p:cNvSpPr>
            <a:spLocks noGrp="1"/>
          </p:cNvSpPr>
          <p:nvPr>
            <p:ph type="title"/>
          </p:nvPr>
        </p:nvSpPr>
        <p:spPr/>
        <p:txBody>
          <a:bodyPr/>
          <a:lstStyle/>
          <a:p>
            <a:pPr algn="ctr"/>
            <a:r>
              <a:rPr lang="en-US" b="1" u="sng" dirty="0"/>
              <a:t>SQL DASHBOARD</a:t>
            </a:r>
            <a:endParaRPr lang="en-IN" b="1" u="sng" dirty="0"/>
          </a:p>
        </p:txBody>
      </p:sp>
      <p:sp>
        <p:nvSpPr>
          <p:cNvPr id="3" name="Content Placeholder 2">
            <a:extLst>
              <a:ext uri="{FF2B5EF4-FFF2-40B4-BE49-F238E27FC236}">
                <a16:creationId xmlns:a16="http://schemas.microsoft.com/office/drawing/2014/main" id="{CC76E8A5-EC5D-024E-976C-4C33FF7AC4E8}"/>
              </a:ext>
            </a:extLst>
          </p:cNvPr>
          <p:cNvSpPr>
            <a:spLocks noGrp="1"/>
          </p:cNvSpPr>
          <p:nvPr>
            <p:ph idx="1"/>
          </p:nvPr>
        </p:nvSpPr>
        <p:spPr/>
        <p:txBody>
          <a:bodyPr>
            <a:normAutofit/>
          </a:bodyPr>
          <a:lstStyle/>
          <a:p>
            <a:r>
              <a:rPr lang="en-US" dirty="0"/>
              <a:t>“This SQL-based HR Analytics Dashboard uses structured queries to calculate key workforce and attrition metrics directly from the database.</a:t>
            </a:r>
          </a:p>
          <a:p>
            <a:r>
              <a:rPr lang="en-US" dirty="0"/>
              <a:t>It analyzes attrition by department, income, job role, experience, work-life balance, and promotion history to identify the main drivers of employee turnover.</a:t>
            </a:r>
          </a:p>
          <a:p>
            <a:r>
              <a:rPr lang="en-US" dirty="0"/>
              <a:t>By using joins, grouping, and aggregations, this dashboard transforms raw employee data into reliable, performance-ready insights that can be used by Excel, Power BI, and Tableau.</a:t>
            </a:r>
          </a:p>
          <a:p>
            <a:r>
              <a:rPr lang="en-US" dirty="0"/>
              <a:t>Overall, this SQL layer acts as the foundation of the analytics system, ensuring that all dashboards are built on accurate and consistent HR data.”</a:t>
            </a:r>
            <a:endParaRPr lang="en-IN" dirty="0"/>
          </a:p>
        </p:txBody>
      </p:sp>
    </p:spTree>
    <p:extLst>
      <p:ext uri="{BB962C8B-B14F-4D97-AF65-F5344CB8AC3E}">
        <p14:creationId xmlns:p14="http://schemas.microsoft.com/office/powerpoint/2010/main" val="4155162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BD9C2-7EC8-F1F4-E39B-94D4BF7624B1}"/>
              </a:ext>
            </a:extLst>
          </p:cNvPr>
          <p:cNvSpPr>
            <a:spLocks noGrp="1"/>
          </p:cNvSpPr>
          <p:nvPr>
            <p:ph type="title"/>
          </p:nvPr>
        </p:nvSpPr>
        <p:spPr/>
        <p:txBody>
          <a:bodyPr/>
          <a:lstStyle/>
          <a:p>
            <a:pPr algn="ctr"/>
            <a:r>
              <a:rPr lang="en-US" b="1" u="sng" dirty="0"/>
              <a:t>TABLEAU DASHBOARD</a:t>
            </a:r>
            <a:endParaRPr lang="en-IN" b="1" u="sng" dirty="0"/>
          </a:p>
        </p:txBody>
      </p:sp>
      <p:sp>
        <p:nvSpPr>
          <p:cNvPr id="3" name="Content Placeholder 2">
            <a:extLst>
              <a:ext uri="{FF2B5EF4-FFF2-40B4-BE49-F238E27FC236}">
                <a16:creationId xmlns:a16="http://schemas.microsoft.com/office/drawing/2014/main" id="{CB5FC9AC-662E-85D6-7DCC-E57D6EDB8A01}"/>
              </a:ext>
            </a:extLst>
          </p:cNvPr>
          <p:cNvSpPr>
            <a:spLocks noGrp="1"/>
          </p:cNvSpPr>
          <p:nvPr>
            <p:ph idx="1"/>
          </p:nvPr>
        </p:nvSpPr>
        <p:spPr/>
        <p:txBody>
          <a:bodyPr/>
          <a:lstStyle/>
          <a:p>
            <a:r>
              <a:rPr lang="en-US" dirty="0"/>
              <a:t>This Tableau HR Analytics Dashboard provides a clear visual analysis of employee performance, income, and attrition.</a:t>
            </a:r>
          </a:p>
          <a:p>
            <a:r>
              <a:rPr lang="en-US" dirty="0"/>
              <a:t>It highlights how department, job role, salary, and promotions influence employee retention and work-life balance.</a:t>
            </a:r>
          </a:p>
          <a:p>
            <a:r>
              <a:rPr lang="en-US" dirty="0"/>
              <a:t>The dashboard shows that employees with lower income and fewer promotions have higher attrition, while departments with better work-life balance and experience levels are more stable.</a:t>
            </a:r>
          </a:p>
          <a:p>
            <a:r>
              <a:rPr lang="en-US" dirty="0"/>
              <a:t>Overall, this dashboard helps HR teams quickly explore data, identify risk areas, and make data-driven decisions to improve employee satisfaction and reduce employee turnover.</a:t>
            </a:r>
            <a:endParaRPr lang="en-IN" dirty="0"/>
          </a:p>
        </p:txBody>
      </p:sp>
    </p:spTree>
    <p:extLst>
      <p:ext uri="{BB962C8B-B14F-4D97-AF65-F5344CB8AC3E}">
        <p14:creationId xmlns:p14="http://schemas.microsoft.com/office/powerpoint/2010/main" val="980873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56A3F-5C71-185E-4840-07EE339E6417}"/>
              </a:ext>
            </a:extLst>
          </p:cNvPr>
          <p:cNvSpPr>
            <a:spLocks noGrp="1"/>
          </p:cNvSpPr>
          <p:nvPr>
            <p:ph type="title"/>
          </p:nvPr>
        </p:nvSpPr>
        <p:spPr/>
        <p:txBody>
          <a:bodyPr/>
          <a:lstStyle/>
          <a:p>
            <a:pPr algn="ctr"/>
            <a:r>
              <a:rPr lang="en-US" b="1" u="sng" dirty="0"/>
              <a:t>POWERBI DASHBOARD</a:t>
            </a:r>
            <a:endParaRPr lang="en-IN" b="1" u="sng" dirty="0"/>
          </a:p>
        </p:txBody>
      </p:sp>
      <p:sp>
        <p:nvSpPr>
          <p:cNvPr id="3" name="Content Placeholder 2">
            <a:extLst>
              <a:ext uri="{FF2B5EF4-FFF2-40B4-BE49-F238E27FC236}">
                <a16:creationId xmlns:a16="http://schemas.microsoft.com/office/drawing/2014/main" id="{A0F619E3-4783-CB17-B019-5387A13EB1A5}"/>
              </a:ext>
            </a:extLst>
          </p:cNvPr>
          <p:cNvSpPr>
            <a:spLocks noGrp="1"/>
          </p:cNvSpPr>
          <p:nvPr>
            <p:ph idx="1"/>
          </p:nvPr>
        </p:nvSpPr>
        <p:spPr/>
        <p:txBody>
          <a:bodyPr>
            <a:normAutofit/>
          </a:bodyPr>
          <a:lstStyle/>
          <a:p>
            <a:r>
              <a:rPr lang="en-US" dirty="0"/>
              <a:t>This Power BI dashboard gives a real-time, interactive view of the company’s workforce and attrition trends.</a:t>
            </a:r>
          </a:p>
          <a:p>
            <a:r>
              <a:rPr lang="en-US" dirty="0"/>
              <a:t>It combines employee count, income, age, experience, and department data to show how different factors impact employee retention.</a:t>
            </a:r>
          </a:p>
          <a:p>
            <a:r>
              <a:rPr lang="en-US" dirty="0"/>
              <a:t>From the analysis, we can see that monthly income, years since last promotion, and department have a strong influence on attrition. Employees with lower income and longer gaps between promotions are more likely to leave.</a:t>
            </a:r>
          </a:p>
          <a:p>
            <a:r>
              <a:rPr lang="en-US" dirty="0"/>
              <a:t>Overall, this dashboard helps management quickly identify high-risk groups and problem areas, enabling them to take data-driven actions to improve employee retention and workforce planning.</a:t>
            </a:r>
            <a:endParaRPr lang="en-IN" dirty="0"/>
          </a:p>
        </p:txBody>
      </p:sp>
    </p:spTree>
    <p:extLst>
      <p:ext uri="{BB962C8B-B14F-4D97-AF65-F5344CB8AC3E}">
        <p14:creationId xmlns:p14="http://schemas.microsoft.com/office/powerpoint/2010/main" val="361710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581CB-4504-AA37-B28E-7DED899EB872}"/>
              </a:ext>
            </a:extLst>
          </p:cNvPr>
          <p:cNvSpPr>
            <a:spLocks noGrp="1"/>
          </p:cNvSpPr>
          <p:nvPr>
            <p:ph type="title"/>
          </p:nvPr>
        </p:nvSpPr>
        <p:spPr/>
        <p:txBody>
          <a:bodyPr/>
          <a:lstStyle/>
          <a:p>
            <a:pPr algn="ctr"/>
            <a:r>
              <a:rPr lang="en-US" b="1" u="sng" dirty="0"/>
              <a:t>KEY INSIGHTS</a:t>
            </a:r>
            <a:endParaRPr lang="en-IN" b="1" u="sng" dirty="0"/>
          </a:p>
        </p:txBody>
      </p:sp>
      <p:sp>
        <p:nvSpPr>
          <p:cNvPr id="3" name="Content Placeholder 2">
            <a:extLst>
              <a:ext uri="{FF2B5EF4-FFF2-40B4-BE49-F238E27FC236}">
                <a16:creationId xmlns:a16="http://schemas.microsoft.com/office/drawing/2014/main" id="{DB2B076E-4C29-FC53-C826-639B9E78A43B}"/>
              </a:ext>
            </a:extLst>
          </p:cNvPr>
          <p:cNvSpPr>
            <a:spLocks noGrp="1"/>
          </p:cNvSpPr>
          <p:nvPr>
            <p:ph idx="1"/>
          </p:nvPr>
        </p:nvSpPr>
        <p:spPr/>
        <p:txBody>
          <a:bodyPr/>
          <a:lstStyle/>
          <a:p>
            <a:r>
              <a:rPr lang="en-US" dirty="0"/>
              <a:t>SOME DEPARTMENTS HAVE HIGHER ATTRITION</a:t>
            </a:r>
          </a:p>
          <a:p>
            <a:r>
              <a:rPr lang="en-US" dirty="0"/>
              <a:t>LOWER INCOME GROUPS SHOW HIGHER ATTRITION</a:t>
            </a:r>
          </a:p>
          <a:p>
            <a:r>
              <a:rPr lang="en-US" dirty="0"/>
              <a:t>EMPLOYEES WITH LONGER PROMOTION GAPS TEND TO LEAVE MORE</a:t>
            </a:r>
          </a:p>
          <a:p>
            <a:r>
              <a:rPr lang="en-US" dirty="0"/>
              <a:t>WORK-LIFE BALANCE DIFFERS BY JOB ROLE</a:t>
            </a:r>
            <a:endParaRPr lang="en-IN" dirty="0"/>
          </a:p>
        </p:txBody>
      </p:sp>
    </p:spTree>
    <p:extLst>
      <p:ext uri="{BB962C8B-B14F-4D97-AF65-F5344CB8AC3E}">
        <p14:creationId xmlns:p14="http://schemas.microsoft.com/office/powerpoint/2010/main" val="1791424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F1301-5122-D150-1974-1C5D89E92CB1}"/>
              </a:ext>
            </a:extLst>
          </p:cNvPr>
          <p:cNvSpPr>
            <a:spLocks noGrp="1"/>
          </p:cNvSpPr>
          <p:nvPr>
            <p:ph type="title"/>
          </p:nvPr>
        </p:nvSpPr>
        <p:spPr/>
        <p:txBody>
          <a:bodyPr/>
          <a:lstStyle/>
          <a:p>
            <a:pPr algn="ctr"/>
            <a:r>
              <a:rPr lang="en-US" b="1" u="sng" dirty="0"/>
              <a:t>RECOMMENDATIONS</a:t>
            </a:r>
            <a:endParaRPr lang="en-IN" b="1" u="sng" dirty="0"/>
          </a:p>
        </p:txBody>
      </p:sp>
      <p:sp>
        <p:nvSpPr>
          <p:cNvPr id="3" name="Content Placeholder 2">
            <a:extLst>
              <a:ext uri="{FF2B5EF4-FFF2-40B4-BE49-F238E27FC236}">
                <a16:creationId xmlns:a16="http://schemas.microsoft.com/office/drawing/2014/main" id="{0567F3EC-A376-B512-D47E-B87CDEDA1E78}"/>
              </a:ext>
            </a:extLst>
          </p:cNvPr>
          <p:cNvSpPr>
            <a:spLocks noGrp="1"/>
          </p:cNvSpPr>
          <p:nvPr>
            <p:ph idx="1"/>
          </p:nvPr>
        </p:nvSpPr>
        <p:spPr/>
        <p:txBody>
          <a:bodyPr/>
          <a:lstStyle/>
          <a:p>
            <a:r>
              <a:rPr lang="en-US" dirty="0"/>
              <a:t>IMPROVE SUPPORT IN HIGH-ATTRITION DEPARTMENTS</a:t>
            </a:r>
          </a:p>
          <a:p>
            <a:r>
              <a:rPr lang="en-US" dirty="0"/>
              <a:t>REVIEW SALARY STRUCTURE FOR LOWER INCOME EMPLOYEES</a:t>
            </a:r>
          </a:p>
          <a:p>
            <a:r>
              <a:rPr lang="en-US" dirty="0"/>
              <a:t>ENSURE REGULAR PROMOTIONS CYCLES</a:t>
            </a:r>
          </a:p>
          <a:p>
            <a:r>
              <a:rPr lang="en-US" dirty="0"/>
              <a:t>IMPROVE WORK-LIFE BALANCE FOR SPECIFIC JOB ROLES</a:t>
            </a:r>
            <a:endParaRPr lang="en-IN" dirty="0"/>
          </a:p>
        </p:txBody>
      </p:sp>
    </p:spTree>
    <p:extLst>
      <p:ext uri="{BB962C8B-B14F-4D97-AF65-F5344CB8AC3E}">
        <p14:creationId xmlns:p14="http://schemas.microsoft.com/office/powerpoint/2010/main" val="6558076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8ACB8-AA16-148D-CD17-02EB10DCF6E9}"/>
              </a:ext>
            </a:extLst>
          </p:cNvPr>
          <p:cNvSpPr>
            <a:spLocks noGrp="1"/>
          </p:cNvSpPr>
          <p:nvPr>
            <p:ph type="title"/>
          </p:nvPr>
        </p:nvSpPr>
        <p:spPr/>
        <p:txBody>
          <a:bodyPr/>
          <a:lstStyle/>
          <a:p>
            <a:pPr algn="ctr"/>
            <a:r>
              <a:rPr lang="en-US" b="1" u="sng" dirty="0"/>
              <a:t>CONCLUSION</a:t>
            </a:r>
            <a:endParaRPr lang="en-IN" b="1" u="sng" dirty="0"/>
          </a:p>
        </p:txBody>
      </p:sp>
      <p:sp>
        <p:nvSpPr>
          <p:cNvPr id="3" name="Content Placeholder 2">
            <a:extLst>
              <a:ext uri="{FF2B5EF4-FFF2-40B4-BE49-F238E27FC236}">
                <a16:creationId xmlns:a16="http://schemas.microsoft.com/office/drawing/2014/main" id="{EEDBF146-8A0C-3BAD-9DD7-F2CAEE45A0AF}"/>
              </a:ext>
            </a:extLst>
          </p:cNvPr>
          <p:cNvSpPr>
            <a:spLocks noGrp="1"/>
          </p:cNvSpPr>
          <p:nvPr>
            <p:ph idx="1"/>
          </p:nvPr>
        </p:nvSpPr>
        <p:spPr/>
        <p:txBody>
          <a:bodyPr/>
          <a:lstStyle/>
          <a:p>
            <a:r>
              <a:rPr lang="en-US" dirty="0"/>
              <a:t>THIS PROJECT ANALYZED EMPLOYEE ATTRITION USING EXCEL, SQL, TABLEAU, AND POWER BI.</a:t>
            </a:r>
          </a:p>
          <a:p>
            <a:r>
              <a:rPr lang="en-US" dirty="0"/>
              <a:t>THE ANALYSIS SHOWS THAT INCOME LEVEL, PROMOTION DELAY, EXPERIENCE, AND JOB ROLE ARE KEY FACTORS INFLUENCING ATTRITION.</a:t>
            </a:r>
          </a:p>
          <a:p>
            <a:r>
              <a:rPr lang="en-US" dirty="0"/>
              <a:t>USING DASHBOARDS, HR TEAMS CAN IDENTIFY PROBLEM AREAS EARLY AND TAKE CORRECTIVE ACTIONS.</a:t>
            </a:r>
            <a:endParaRPr lang="en-IN" dirty="0"/>
          </a:p>
        </p:txBody>
      </p:sp>
    </p:spTree>
    <p:extLst>
      <p:ext uri="{BB962C8B-B14F-4D97-AF65-F5344CB8AC3E}">
        <p14:creationId xmlns:p14="http://schemas.microsoft.com/office/powerpoint/2010/main" val="3589649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BE835-E239-4262-F3BC-390536A1F663}"/>
              </a:ext>
            </a:extLst>
          </p:cNvPr>
          <p:cNvSpPr>
            <a:spLocks noGrp="1"/>
          </p:cNvSpPr>
          <p:nvPr>
            <p:ph type="title"/>
          </p:nvPr>
        </p:nvSpPr>
        <p:spPr>
          <a:xfrm>
            <a:off x="838200" y="365125"/>
            <a:ext cx="10680510" cy="4957502"/>
          </a:xfrm>
        </p:spPr>
        <p:txBody>
          <a:bodyPr>
            <a:normAutofit/>
          </a:bodyPr>
          <a:lstStyle/>
          <a:p>
            <a:pPr algn="ctr"/>
            <a:r>
              <a:rPr lang="en-US" sz="8800" i="1" dirty="0">
                <a:effectLst>
                  <a:outerShdw blurRad="38100" dist="38100" dir="2700000" algn="tl">
                    <a:srgbClr val="000000">
                      <a:alpha val="43137"/>
                    </a:srgbClr>
                  </a:outerShdw>
                </a:effectLst>
              </a:rPr>
              <a:t>THANK YOU</a:t>
            </a:r>
            <a:endParaRPr lang="en-IN" sz="8800"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50255593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207</TotalTime>
  <Words>1026</Words>
  <Application>Microsoft Office PowerPoint</Application>
  <PresentationFormat>Widescreen</PresentationFormat>
  <Paragraphs>98</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Retrospect</vt:lpstr>
      <vt:lpstr>HR ANALYTICS FINAL PRESENTATION</vt:lpstr>
      <vt:lpstr>INTRODUCTION</vt:lpstr>
      <vt:lpstr>PROJECT SUMMARY AND IMPACT</vt:lpstr>
      <vt:lpstr>OBJECTIVES</vt:lpstr>
      <vt:lpstr>KEY PERFORMANCES OF INDICATORS(KPIs)</vt:lpstr>
      <vt:lpstr>AVERAGE ATTRITION RATE FOR ALL DEPARTMENTS</vt:lpstr>
      <vt:lpstr>AVERAGE HOURLY RATE OF MALE RESEARCH SCIENTIST</vt:lpstr>
      <vt:lpstr>ATTRITION RATE vs MONTHLY INCOME</vt:lpstr>
      <vt:lpstr>AVERAGE WORKING YEARS FOR EACH DEPARTMENT</vt:lpstr>
      <vt:lpstr>JOB ROLE vs WORK LIFE BALANCE</vt:lpstr>
      <vt:lpstr>ATTRITION RATE vs YEARS SINCE LAST PROMOTION</vt:lpstr>
      <vt:lpstr>DATA &amp; WORKFLOW</vt:lpstr>
      <vt:lpstr>EXCEL DASHBOARD</vt:lpstr>
      <vt:lpstr>SQL DASHBOARD</vt:lpstr>
      <vt:lpstr>TABLEAU DASHBOARD</vt:lpstr>
      <vt:lpstr>POWERBI DASHBOARD</vt:lpstr>
      <vt:lpstr>KEY INSIGHTS</vt:lpstr>
      <vt:lpstr>RECOMMENDATIONS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nishwa nasar</dc:creator>
  <cp:lastModifiedBy>nishwa nasar</cp:lastModifiedBy>
  <cp:revision>4</cp:revision>
  <dcterms:created xsi:type="dcterms:W3CDTF">2026-02-10T15:35:53Z</dcterms:created>
  <dcterms:modified xsi:type="dcterms:W3CDTF">2026-02-14T18:20:44Z</dcterms:modified>
</cp:coreProperties>
</file>